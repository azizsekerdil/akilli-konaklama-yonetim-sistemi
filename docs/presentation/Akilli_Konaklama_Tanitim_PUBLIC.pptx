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44" y="685800"/>
            <a:ext cx="1097280" cy="10972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18744" y="193852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18744" y="193852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A9EE0"/>
                </a:solidFill>
                <a:latin typeface="Calibri"/>
              </a:rPr>
              <a:t>v0.1.0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8716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E6EDF3"/>
                </a:solidFill>
                <a:latin typeface="Calibri"/>
              </a:rPr>
              <a:t>AKILLI KONAKLAMA YÖNETİM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47288"/>
            <a:ext cx="103601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4A9EE0"/>
                </a:solidFill>
                <a:latin typeface="Calibri"/>
              </a:rPr>
              <a:t>Otel · butik otel · pansiyon · apart otel · tatil köyü için yapay zekâ destekli Windows masaüstü PMS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78808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F6D365"/>
                </a:solidFill>
                <a:latin typeface="Calibri"/>
              </a:rPr>
              <a:t>Doğru Sat.  Doğru Ölç.  Veriyi Koru.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Windows masaüstü (.exe)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%100 yerel yapay zekâ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Şifreli kimlik verisi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14816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14816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Türkçe / İngilizce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053328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8B98A9"/>
                </a:solidFill>
                <a:latin typeface="Calibri"/>
              </a:rPr>
              <a:t>Sürüm 0.1.0 · Ağustos 2026 · MIT lisansı · Yasal uyum sorumluluğu işletmeye aittir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🔢  </a:t>
            </a:r>
            <a:r>
              <a:rPr sz="3000" b="1">
                <a:solidFill>
                  <a:srgbClr val="E6EDF3"/>
                </a:solidFill>
                <a:latin typeface="Calibri"/>
              </a:rPr>
              <a:t>Sayılarla Program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2821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4A9EE0"/>
                </a:solidFill>
                <a:latin typeface="Calibri"/>
              </a:rPr>
              <a:t>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Veritabanı tablosu · 56 ORM modeli · Alembic ile sürümlenir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002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72821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2DD4BF"/>
                </a:solidFill>
                <a:latin typeface="Calibri"/>
              </a:rPr>
              <a:t>1075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46888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Toplanan test — tamamı ağa çıkmadan çalışır; bu kural ayrı bir testle korunur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2821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38BDF8"/>
                </a:solidFill>
                <a:latin typeface="Calibri"/>
              </a:rPr>
              <a:t>%77,6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Dal dahil kapsam — `pytest --cov=app --cov-branch` çıktısından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6002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72821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6D365"/>
                </a:solidFill>
                <a:latin typeface="Calibri"/>
              </a:rPr>
              <a:t>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46888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İzin · 7 varsayılan rol · yetki iki katmanda birden denetlenir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1985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22C55E"/>
                </a:solidFill>
                <a:latin typeface="Calibri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Kritik senaryo — çakışma, no-show, kota, bozuk JSON dahil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329184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341985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A78BFA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16052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Yapay zekâ sağlayıcısı: LM Studio · OpenAI · NVIDIA · Anthropic · Mock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29184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41985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4A9EE0"/>
                </a:solidFill>
                <a:latin typeface="Calibri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6052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Sunumdaki uygulama ekranı — hepsi uydurma demo veriyle üretildi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329184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341985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87171"/>
                </a:solidFill>
                <a:latin typeface="Calibri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416052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bandit'te yüksek önemde bulgu · orta: 0 · düşük: 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74920"/>
            <a:ext cx="11292840" cy="11887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521208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8B98A9"/>
                </a:solidFill>
                <a:latin typeface="Calibri"/>
              </a:rPr>
              <a:t>Bu sayıların hiçbiri slayta elle yazılmadı: sunum üretilirken `sunum/olcum.py` tarafından kaynak koddan ölçüldü (19 Ağustos 2026). Ölçülemeyen bir değerin yerine rakam değil "ölçülmedi" basılır. Yöntem: docs/TEST_REPORT.md ve docs/SECURITY_REVIEW.md.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🏨  </a:t>
            </a:r>
            <a:r>
              <a:rPr sz="3000" b="1">
                <a:solidFill>
                  <a:srgbClr val="E6EDF3"/>
                </a:solidFill>
                <a:latin typeface="Calibri"/>
              </a:rPr>
              <a:t>Kimin İçin — ve Ne Değil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Program tek bir işletmenin bilgisayarında çalışır: bulut aboneliği değil, kanal yöneticisi değil, muhasebe paketi değil.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Hedef İşletme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5–150 odalı otel, butik otel, pansiyon, apart otel ve tatil köyü. Tek bilgisayarda ya da yerel ağda birkaç kullanıcıyla çalışır; internet bağlantısı zorunlu değildir.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Kapsadığı İş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Rezervasyondan çıkışa kadar ön büro döngüsünün tamamı: satış, konaklama, folyo, tahsilat, kat hizmetleri, teknik servis ve yönetim raporları.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Ne Değil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Kanal yöneticisi, POS ve muhasebe programı değildir. e-Fatura ve Kimlik Bildirim Sistemi entegrasyonları YAPILMADI: veri modeli hazır, bağlantı yok.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⚖️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Sorumluluk Sınırı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Yazılım veri işlemeyi kolaylaştırır; KVKK, e-Fatura ve Kimlik Bildirim yükümlülüklerine uyum sorumluluğu tamamen kullanıcı işletmeye aittir.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Tamamlanmamış modüller varsayılan olarak kapalıdır ve arayüzde durumu yazılı bir bekleme ekranıyla gösterilir — docs/ROADMAP.md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🔄  </a:t>
            </a:r>
            <a:r>
              <a:rPr sz="3000" b="1">
                <a:solidFill>
                  <a:srgbClr val="E6EDF3"/>
                </a:solidFill>
                <a:latin typeface="Calibri"/>
              </a:rPr>
              <a:t>Bir Günün Akışı — Dört Ekran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Gün panelde başlar, ön büroda geçer, kat ve teknik ekipleriyle sürer, gün sonu kapanışıyla biter.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Yönetim Paneli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Doluluk, ADR, RevPAR ve ALOS kartları; kritik uyarılar (geciken çıkış, açık arıza, kritik stok) ve 14 günlük doluluk eğrisi tek ekranda toplanır.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Rezervasyonlar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Takvim, grup rezervasyonu, bekleme listesi, kanal bazlı kayıt. Gece gece fiyat hesabı ve çakışma engelleme kayıt anında çalışır.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Ön Büro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Giriş, oda kartı, refakatçi, folyo, ek ücret, tahsilat ve çıkış. Erken giriş ve geç çıkış ücretleri dilim dilim hesaplanır.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Kat ve Teknik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Günlük temizlik görevleri üretilir ve atanır; arıza kaydı gerektiğinde odayı satışa kapatır — kapalı oda rezervasyona düşmez.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Kısayollar: Ctrl+1 Panel · Ctrl+2 Rezervasyon · Ctrl+3 Ön Büro · Ctrl+4 Odalar · Ctrl+5 Misafirler · Ctrl+R Raporlar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🖥️  </a:t>
            </a:r>
            <a:r>
              <a:rPr sz="3000" b="1">
                <a:solidFill>
                  <a:srgbClr val="E6EDF3"/>
                </a:solidFill>
                <a:latin typeface="Calibri"/>
              </a:rPr>
              <a:t>Ekranda: Yönetim Paneli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Doluluk, boş oda, günlük gelir, ADR ve RevPAR kartları; kritik uyarılar ve 14 günlük doluluk tahmini — güne tek ekrandan başlanır.</a:t>
            </a:r>
          </a:p>
        </p:txBody>
      </p:sp>
      <p:pic>
        <p:nvPicPr>
          <p:cNvPr id="4" name="Picture 3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Bu ve sonraki ekran görüntüleri programın kendisinden alınmıştır; verilerin tamamı sentetik demo kaydıdır ve gerçek kişi verisi içermez.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🛎️  </a:t>
            </a:r>
            <a:r>
              <a:rPr sz="3000" b="1">
                <a:solidFill>
                  <a:srgbClr val="E6EDF3"/>
                </a:solidFill>
                <a:latin typeface="Calibri"/>
              </a:rPr>
              <a:t>Ekranda: Ön Büro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Bekleyen giriş ve çıkışlar, oteldeki misafirler ve tahsil edilmemiş folyo bakiyesi tek ekranda; giriş işlemi listeden tek düğmeyle başlar.</a:t>
            </a:r>
          </a:p>
        </p:txBody>
      </p:sp>
      <p:pic>
        <p:nvPicPr>
          <p:cNvPr id="4" name="Picture 3" descr="03_front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🧹  </a:t>
            </a:r>
            <a:r>
              <a:rPr sz="3000" b="1">
                <a:solidFill>
                  <a:srgbClr val="E6EDF3"/>
                </a:solidFill>
                <a:latin typeface="Calibri"/>
              </a:rPr>
              <a:t>Ekranda: Kat Hizmetleri ve Teknik Servis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Günün temizlik görevleri tek düğmeyle üretilir, görevliye atanır ve kontrol adımıyla kapanır; arıza kayıtları öncelik ve oda ilişkisiyle izlenir.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40864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Kat Hizmetleri</a:t>
            </a:r>
          </a:p>
        </p:txBody>
      </p:sp>
      <p:pic>
        <p:nvPicPr>
          <p:cNvPr id="5" name="Picture 4" descr="06_housekee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5440680" cy="3060382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217920" y="2340864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Teknik Servis</a:t>
            </a:r>
          </a:p>
        </p:txBody>
      </p:sp>
      <p:pic>
        <p:nvPicPr>
          <p:cNvPr id="7" name="Picture 6" descr="07_mainte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743200"/>
            <a:ext cx="5440680" cy="3060382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🧮  </a:t>
            </a:r>
            <a:r>
              <a:rPr sz="3000" b="1">
                <a:solidFill>
                  <a:srgbClr val="E6EDF3"/>
                </a:solidFill>
                <a:latin typeface="Calibri"/>
              </a:rPr>
              <a:t>Aynı Oda Aynı Gece İki Kez Satılamaz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Çakışma engelleme bir uyarı değil, iki katmanlı bir kısıttır: uygulama kontrolü ile veritabanı kısıtı aynı kuralı ayrı ayrı uygular.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İki Aşamalı Kontrol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Önce uygulama katmanı müsaitliği sorgular ve anlaşılır bir hata üretir; kayıt anında veritabanı kısıtı aynı kuralı yeniden uygular. Yarış durumunda ikinci işlem reddedilir.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Yarı-Açık Aralık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Tarihler [giriş, çıkış) olarak modellenir: çıkış günü gece sayılmaz, oda aynı gün yeniden satılabilir. Çakışma hatalarının çoğu tam bu sınırda doğar.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Gece Gece Fiyat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Sezon fiyatı, hafta sonu farkı, ekstra kişi, indirim ve vergi her gece için ayrı hesaplanır; tek bir ortalama fiyatla çarpma yapılmaz.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Durum Makinesi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Taslak → onaylı → giriş → çıkış; iptal ve no-show ayrı yollardır. Geçersiz geçişler reddedilir ve ücret kuralları duruma bağlıdır.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99 alan testi yalnız bu katmanı sınar: müsaitlik 24, fiyat 23, durum makinesi 18, para ve tarih değer nesneleri 34.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📅  </a:t>
            </a:r>
            <a:r>
              <a:rPr sz="3000" b="1">
                <a:solidFill>
                  <a:srgbClr val="E6EDF3"/>
                </a:solidFill>
                <a:latin typeface="Calibri"/>
              </a:rPr>
              <a:t>Ekranda: Rezervasyonlar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Arama, durum ve tarih filtreleri; onay numarası, gece sayısı, tutar ve bakiye tek listede. İptal ve opsiyonlu kayıtlar renkle ayrışır.</a:t>
            </a:r>
          </a:p>
        </p:txBody>
      </p:sp>
      <p:pic>
        <p:nvPicPr>
          <p:cNvPr id="4" name="Picture 3" descr="02_reserv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🛏️  </a:t>
            </a:r>
            <a:r>
              <a:rPr sz="3000" b="1">
                <a:solidFill>
                  <a:srgbClr val="E6EDF3"/>
                </a:solidFill>
                <a:latin typeface="Calibri"/>
              </a:rPr>
              <a:t>Ekranda: Oda Planı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Bina ve kat bazlı oda planı: doluluk ve temizlik durumu renk koduyla görünür; seçilen odanın ayrıntısı ve temizlik işlemleri sağ paneldedir.</a:t>
            </a:r>
          </a:p>
        </p:txBody>
      </p:sp>
      <p:pic>
        <p:nvPicPr>
          <p:cNvPr id="4" name="Picture 3" descr="04_ro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🧾  </a:t>
            </a:r>
            <a:r>
              <a:rPr sz="3000" b="1">
                <a:solidFill>
                  <a:srgbClr val="E6EDF3"/>
                </a:solidFill>
                <a:latin typeface="Calibri"/>
              </a:rPr>
              <a:t>Folyo — Silinmez, Gerekçeyle Geçersiz Kılınır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Mali kayıtta düzeltmek silmek değildir. Program ücret satırını silmez; gerekçesiyle birlikte geçersiz kılar ve denetim izi kalır.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✍️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Denetim İzi Korunur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Yanlış girilen ücret satırı iptal edilir ve gerekçesi kayda geçer. Böylece gün sonu toplamı ile geçmiş her zaman açıklanabilir kalır.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Tahsilat ve İade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Nakit, kart ve havale tahsilatı; iade, depozito ve hasar kaydı. Bakiye folyodan hesaplanır; tutar tutarsızsa işlem reddedilir.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Erken Giriş / Geç Çıkış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Ücret dilim dilim hesaplanır: 4 saatlik geç çıkış iki dilimdir ve gecelik fiyatın %50'sine karşılık gelir. Kural testle sabitlenmiştir.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Gün Sonu Kapanışı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Girişler, çıkışlar, konaklayanlar ve kasa hareketleri gün sonu raporunda toplanır; PDF, Excel ve CSV olarak dışa aktarılır.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Ayrı bir Finans ekranı henüz yok: tahsilat ve folyo işlemleri Ön Büro'dan, mali özetler Raporlar ekranından yapılır.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🔐  </a:t>
            </a:r>
            <a:r>
              <a:rPr sz="3000" b="1">
                <a:solidFill>
                  <a:srgbClr val="E6EDF3"/>
                </a:solidFill>
                <a:latin typeface="Calibri"/>
              </a:rPr>
              <a:t>Kimlik Verisi Şifreli Durur, Aranabilir Kalır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Şifrelenmiş bir sütunda arama yapılamaz. Program bu ikilemi kör indeksle çözer: veri şifreli saklanır, arama özet değeri üzerinden yapılır.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Alan Seviyesi Şifreleme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Kimlik ve pasaport numaraları veritabanına şifrelenerek yazılır. Doğrulama ham SQL sorgusuyla yapıldı: sütunda açık numara görünmüyor.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Kör İndeks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Arama, numaranın HMAC-SHA256 özetiyle yapılır: tam eşleşme çalışır, veri açığa çıkmaz. Kısmi arama bilinçli olarak desteklenmez.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Açık Görmek Ayrı Yetki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Numarayı maskesiz görmek ayrı bir izindir; kaydı görüntüleyebilen her kullanıcı bu izne sahip değildir ve görüntüleme denetime yazılır.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Misafir CRM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Profil, konaklama geçmişi, tercihler, VIP ve kara liste, KVKK izin kayıtları. Özet şu an yalnız asıl misafiri sayar; refakatçi geceleri hariçtir.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Loglarda API anahtarı, e-posta, telefon, kimlik ve kart numarası otomatik maskelenir; maskeleme ayrı bir testle korunur.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👥  </a:t>
            </a:r>
            <a:r>
              <a:rPr sz="3000" b="1">
                <a:solidFill>
                  <a:srgbClr val="E6EDF3"/>
                </a:solidFill>
                <a:latin typeface="Calibri"/>
              </a:rPr>
              <a:t>Ekranda: Misafir Kartı ve KVKK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Kimlik numarası şifreli saklanır ve maskeli gösterilir; 'Göster' düğmesi her açık görüntülemeyi kullanıcı adı ve zaman damgasıyla denetim günlüğüne yazar.</a:t>
            </a:r>
          </a:p>
        </p:txBody>
      </p:sp>
      <p:pic>
        <p:nvPicPr>
          <p:cNvPr id="4" name="Picture 3" descr="05_g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📈  </a:t>
            </a:r>
            <a:r>
              <a:rPr sz="3000" b="1">
                <a:solidFill>
                  <a:srgbClr val="E6EDF3"/>
                </a:solidFill>
                <a:latin typeface="Calibri"/>
              </a:rPr>
              <a:t>Ölçüm — Otelcilik Göstergeleri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Doluluk, ADR, RevPAR ve ALOS aynı sorgu katmanından üretilir: ekranda görünen sayı ile rapordaki sayı aynı koddan gelir.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KPI ve Uyarılar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Doluluk, ADR, RevPAR, ALOS, iptal ve no-show oranı. Kritik uyarılar panelin üstünde toplanır: geciken çıkış, açık arıza, kritik stok.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14 Günlük Doluluk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Onaylı rezervasyonlardan önümüzdeki iki haftanın doluluk eğrisi çizilir. Bu bir talep tahmini modeli değil, bilinen rezervasyonların izdüşümüdür.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Kanal ve Oda Tipi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Gelir kanal bazında (doğrudan, acente, çevrim içi) ve oda tipi bazında ayrıştırılır; hangi kanalın ne getirdiği tek tabloda görünür.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PDF · Excel · 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Her rapor üç biçimde dışa aktarılır. CSV, Excel'in Türkçe karakterleri doğru açması için UTF-8 BOM ile yazılır.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106 raporlama testi çıktı biçimlerini ve boş veri durumunu da kapsar: veri yokken rapor çökmez, boş tablo üretir.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📈  </a:t>
            </a:r>
            <a:r>
              <a:rPr sz="3000" b="1">
                <a:solidFill>
                  <a:srgbClr val="E6EDF3"/>
                </a:solidFill>
                <a:latin typeface="Calibri"/>
              </a:rPr>
              <a:t>Ekranda: Raporlar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Doluluk, kanal ve oda tipi geliri, gün sonu kapanışı, kat hizmetleri ve KPI özeti; her rapor PDF, Excel ve CSV olarak dışa aktarılır.</a:t>
            </a:r>
          </a:p>
        </p:txBody>
      </p:sp>
      <p:pic>
        <p:nvPicPr>
          <p:cNvPr id="4" name="Picture 3" descr="10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🤖  </a:t>
            </a:r>
            <a:r>
              <a:rPr sz="3000" b="1">
                <a:solidFill>
                  <a:srgbClr val="E6EDF3"/>
                </a:solidFill>
                <a:latin typeface="Calibri"/>
              </a:rPr>
              <a:t>Yapay Zekâ Öneri Üretir, Veriyi Değiştirmez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Yapay zekâ katmanı veritabanı ile model arasındaki güvenlik sınırıdır: ne kişisel veri dışarı çıkar, ne de model kendiliğinden kayıt değiştirir.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İstem Denetimi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Modele gidecek metindeki e-posta, telefon ve uzun numara dizileri maskelenir; maskelemeden sonra kişisel veri kaldıysa çağrı hiç yapılmaz.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Yerel Seçenek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LM Studio ile model kendi bilgisayarınızda çalışır: bulut yok, API ücreti yok, veri makineden çıkmaz. Bulut sağlayıcıları isteğe bağlıdır.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Yalnız Öneri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Fiyat önerisi, misafir yorumu duygu analizi ve mesaj taslağı üretilir. Hiçbiri kendiliğinden uygulanmaz; karar kullanıcıdadır.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Rozet ve Maliyet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Her çıktı "AI tarafından oluşturuldu" rozetiyle işaretlenir; jeton sayısı, süre ve tahmini maliyet gösterilir — yerel modelde ücretsiz.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Birincil sağlayıcı düşerse yalnız GEÇİCİ hatalarda yedeğe geçilir. Geçersiz API anahtarı kalıcı hatadır: gizlenmez, kullanıcıya söylenir.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🤖  </a:t>
            </a:r>
            <a:r>
              <a:rPr sz="3000" b="1">
                <a:solidFill>
                  <a:srgbClr val="E6EDF3"/>
                </a:solidFill>
                <a:latin typeface="Calibri"/>
              </a:rPr>
              <a:t>Ekranda: Yapay Zekâ Merkezi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Hazır görevler ve serbest soru; sağlayıcı ile model tek ekrandan seçilir. Yanıtlar 'AI tarafından oluşturuldu' rozetiyle işaretlenir.</a:t>
            </a:r>
          </a:p>
        </p:txBody>
      </p:sp>
      <p:pic>
        <p:nvPicPr>
          <p:cNvPr id="4" name="Picture 3" descr="11_ai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🛠  </a:t>
            </a:r>
            <a:r>
              <a:rPr sz="3000" b="1">
                <a:solidFill>
                  <a:srgbClr val="E6EDF3"/>
                </a:solidFill>
                <a:latin typeface="Calibri"/>
              </a:rPr>
              <a:t>AI Geliştirme Merkezi — Kısıtlanmış Ortam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Yapay zekâya kodlama görevi verilebilir; ama yapabilecekleri komut politikası, sandbox ve kalite zinciriyle sınırlanmıştır.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Komut Politikası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İki katman: (1) izin listesi hangi komutun çalışacağına, (2) hedef denetimi hangi dosyaya dokunulabileceğine karar verir. `.env`, anahtar dosyaları ve misafir veritabanı — okuyucu hangisi olursa olsun — kapalıdır.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Sandbox ve Diff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Yazma yalnız sandbox kökünde yapılır; her değişiklik önce diff olarak gösterilir, onaysız yazılmaz ve kayıp güncelleme koruması vardır.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Git Koruması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Görev ayrı dalda çalışır, başlamadan kontrol noktası alınır, başarısızlıkta otomatik geri alınır. Ana dala birleştirme ayrı onay ister.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Kalite Zinciri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Biçim → lint → tip → test → güvenlik. Testler geçmeden değişiklik işlenmez ve bu kural kullanıcı tarafından gevşetilemez.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187 test bu modülü kapsar. Komutun fiilen çalıştırıldığı katmanın kapsamı düşüktür ve bu boşluk test raporunda açıkça yazılıdır — kapsam sayıları docs/TEST_REPORT.md'de ölçümüyle durur.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🛡  </a:t>
            </a:r>
            <a:r>
              <a:rPr sz="3000" b="1">
                <a:solidFill>
                  <a:srgbClr val="E6EDF3"/>
                </a:solidFill>
                <a:latin typeface="Calibri"/>
              </a:rPr>
              <a:t>Güvenlik — Ölçülmüş, Varsayılmamış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Güvenlik incelemesi bir iddia listesi değil: her madde bir testin ya da çalıştırılmış bir aracın çıktısına dayanır.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Kimlik Doğrulama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Parolalar Argon2id ile hash'lenir; kaba kuvvet kilidi, oturum zaman aşımı ve kullanıcı sayımını engelleyen tek tip hata mesajı vardır.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İki Katmanlı Yetki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Yetki hem arayüzde (menü, düğme) hem servis katmanında denetlenir. Ekranı gizlemek yetmez; yetkisiz servis çağrısı da reddedilir.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Sır Yönetimi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API anahtarları Windows Credential Manager'da tutulur; veritabanına, kaynak koda ve hata mesajlarına yazılmaz. Depoda sır olmadığı tarandı.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Denetim Günlüğü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Kritik işlemler yalnız eklenebilir bir denetim günlüğüne yazılır: kim, ne zaman, hangi kayıtta ne yaptı.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bandit: 0 yüksek, 0 orta, 9 düşük önemde bulgu — düşük bulguların her biri gerekçelendirilmiştir. Sayılar sunum üretilirken ölçülür.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🔍  </a:t>
            </a:r>
            <a:r>
              <a:rPr sz="3000" b="1">
                <a:solidFill>
                  <a:srgbClr val="E6EDF3"/>
                </a:solidFill>
                <a:latin typeface="Calibri"/>
              </a:rPr>
              <a:t>İncelemeler Gerçek Açıklar Buldu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Bir güvenlik incelemesinin değeri bulduklarındadır. Aşağıdakilerin hepsi düzeltildi; her biri için bir gerileme testi vardır ve düzeltmeler docs/SECURITY_REVIEW.md 8. bölümde anlatılır.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Yetki Boşluğu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Odayı satışa kapatma işlemi yetki denetiminden geçmiyordu: bakım yetkisi olmayan bir kullanıcı odayı kapatabiliyordu. Kapatıldı; `tests/application/test_operations_services.py` koruyor.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Sahiplik Kontrolü Yoktu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Yapay zekâ sohbet geçmişinde sahiplik denetlenmiyordu; bir kullanıcı başkasının sohbetini okuyabilirdi. Kapatıldı; `tests/application/test_ai_service.py` koruyor.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Politika Atlatmaları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Komut politikasında atlatma yolları bulundu ve kapatıldı. Sonuncusu bağımsız bir yayın öncesi incelemede çıktı: izin listesindeki bir okuyucu (`head`, `findstr`) `.env` dosyasını onaysız okuyabiliyordu. Artık karar komutun adına değil dokunduğu dosyaya bakıyor.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Mali Tutarsızlık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Folyo ve tahsilat aritmetiğindeki hatalar düzeltildi; yedeğe geçişte anahtar hatasının gizlenmesi de giderildi. Para yolunda `float` kullanılmaz, `Decimal` kullanılır — bu da test edilir.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Bilerek işlem (commit) numarası verilmiyor: bir düzeltmenin kanıtı onu koruyan testtir. Aynı belge düzeltilmeyenleri de listeler — numara üreteçleri eşzamanlı güvenli değildir.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🧪  </a:t>
            </a:r>
            <a:r>
              <a:rPr sz="3000" b="1">
                <a:solidFill>
                  <a:srgbClr val="E6EDF3"/>
                </a:solidFill>
                <a:latin typeface="Calibri"/>
              </a:rPr>
              <a:t>Sayılar Hatırlanmadı, Çalıştırıldı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1075 test geçiyor ve hiçbiri ağa çıkmıyor — ağa çıkılmadığı da ayrı bir testle korunuyor. Sayı bu sunum üretilirken ölçüldü.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Katman Katman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alan 99 · güvenlik 75 · altyapı 145 · uygulama 158 · yapay zekâ 123 · arayüz 182 · raporlama 106 · geliştirme merkezi 187.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13 Kritik Senaryo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Çakışan rezervasyon, iptal, no-show, erken giriş, kapalı oda, hatalı ödeme, yetkisiz erişim, model çökmesi, kota, geçersiz anahtar, bozuk JSON, boş rapor — hepsi kapsanıyor.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Boşluklar Yazılı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Açılış yolu (giriş ekranı, ana pencere) ve komut satırı kapsam dışı kalır; yedekleme düşük kapsamlıdır. Bunlar gizlenmedi — docs/TEST_REPORT.md içinde ölçümleriyle listelendi ve gerekçelendirildi.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⚙️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Her Push'ta CI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GitHub Actions (.github/workflows/ci.yml): biçim, lint, tip, test, güvenlik taraması, göç tutarlılığı ve "depoya hassas dosya girdi mi" denetimi. `ruff check app tests` şu an 0 bulgu veriyor.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Rapor bir anlık görüntüdür: 19 Ağustos 2026, sürüm 0.1.0, Windows 11, Python 3.11. Sayılar üretim anında ölçülür; kod değişince değişirler.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🏗  </a:t>
            </a:r>
            <a:r>
              <a:rPr sz="3000" b="1">
                <a:solidFill>
                  <a:srgbClr val="E6EDF3"/>
                </a:solidFill>
                <a:latin typeface="Calibri"/>
              </a:rPr>
              <a:t>Mimari — Bağımlılık Tek Yöne Akar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ui → application → domain ← infrastructure. İş kuralları ne veritabanını ne arayüzü tanır; 99 alan testinin saniyeler içinde koşmasının sebebi budur.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Çerçeveden Bağımsız 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Alan katmanı veritabanı ve arayüz kitaplıklarını içe aktarmaz. Kural belgede yazmakla kalmaz, içe aktarım denetimiyle sınanır.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Zaman Dilimi Bilinçli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Özel bir sütun tipi tüm zaman damgalarını UTC olarak saklar. Saat farkı ve yaz saati hataları veri katmanında değil, tek noktada çözülür.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Göç Edilebilir Şema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60 tablo Alembic ile sürümlenir ve CI her değişiklikte şema ile göçlerin tutarlılığını doğrular. Durumlar sayı değil, metin olarak saklanır.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Sayfa Kayıt Defteri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Yeni ekran eklemek için ana pencere değiştirilmez, kayıt defterine bir satır eklenir. Tamamlanmamış ekran da aynı defterden gösterilir.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SQLite varsayılan, PostgreSQL destekleniyor. Türkçe büyük/küçük harf araması SQLite'ta sınırlıdır; "İ/ı" için PostgreSQL gerekir.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⚙️  </a:t>
            </a:r>
            <a:r>
              <a:rPr sz="3000" b="1">
                <a:solidFill>
                  <a:srgbClr val="E6EDF3"/>
                </a:solidFill>
                <a:latin typeface="Calibri"/>
              </a:rPr>
              <a:t>Kurulum, Yedek ve Paketleme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Tek komutla kurulur, tek komutla yedeklenir, tek dosyaya paketlenir. Veritabanı ve loglar uygulamanın yanında kalır — taşınabilir.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Tek Komut Kurulum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Kurulum betiği Python sürümünü doğrular, sanal ortamı kurar, .env dosyasını rastgele oturum anahtarıyla üretir, göçleri uygular ve yönetici hesabını açar.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Tutarlı Yedek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SQLite yedeği VACUUM INTO ile alınır; WAL kipinde dosyayı kopyalamak tutarsız yedek üretir. Geri yüklemeden önce mevcut veritabanı saklanır.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Windows Paketi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Yapı betiği PyInstaller ile .exe üretir; ilk açılışta kurulum sihirbazı veritabanını hazırlar ve yönetici parolasını bir kez gösterir.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Bakım Komutları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bootstrap · seed-demo · backup · restore · check-ai · doctor. check-ai sağlayıcı bağlantısını, doctor kurulumun sağlığını sınar.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Demo kurulumda beş rol hesabı hazır gelir (müdür, ön büro, kat, teknik, muhasebe). Gerçek kurulumda demo veri ve hesaplar silinmelidir.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📋  </a:t>
            </a:r>
            <a:r>
              <a:rPr sz="3000" b="1">
                <a:solidFill>
                  <a:srgbClr val="E6EDF3"/>
                </a:solidFill>
                <a:latin typeface="Calibri"/>
              </a:rPr>
              <a:t>Yapılmayanlar — Aynı Netlikte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Bir özelliğin yol haritasında olması, bugün üretimde kullanılmaması gerektiği anlamına gelir. Program eksiğini kullanıcıdan saklamaz.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e-Fatura ve Bildirim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YAPILMADI. Fatura tablosunda alanlar, ayar dosyasında anahtarlar duruyor; kurum entegrasyonu, XML üretimi ve bildirim akışı yok.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Finans · Stok · Personel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İş mantığı ve raporlar hazır, ayrı ekran yok. Ekran açıldığında ne planlandığı ve aynı işin şu anda nasıl yapılacağı yazılı olarak gösterilir.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Numara Üreteci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Rezervasyon ve folyo numaraları en büyük değere bir eklenerek üretilir; eşzamanlı kullanımda ikinci işlem reddedilir ve yeniden denenmelidir. Çözüm v0.2'de.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☁️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Bulut Sağlayıcıları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NVIDIA ve Anthropic sağlayıcı kodu hazır ama gerçek API çağrısıyla denenmedi — anahtar gerektirir. LM Studio gerçek istekle doğrulandı.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Belge soru-cevabı (RAG) ve görsel belge analizi de tamamlanmadı: veri modeli hazır, iş akışı bağlanmadı.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🗺  </a:t>
            </a:r>
            <a:r>
              <a:rPr sz="3000" b="1">
                <a:solidFill>
                  <a:srgbClr val="E6EDF3"/>
                </a:solidFill>
                <a:latin typeface="Calibri"/>
              </a:rPr>
              <a:t>Yol Haritası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Sıra rastgele değil: önce günlük işi tamamlayan ekranlar, sonra yapay zekâ derinliği, en sonda mevzuat entegrasyonları.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v0.2 — Operasyon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Finans, Stok ve oda tipi/fiyat planı ekranları; personel ve vardiya yönetimi; numara üretiminde eşzamanlılık düzeltmesi; grup rezervasyonu arayüzü.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v0.3 — Yapay Zekâ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Belge indeksleme akışının tamamlanması, görsel belge analizi (KVKK değerlendirmesiyle), talep tahmini ve dinamik fiyat önerisi.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v0.4 — Entegrasyon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e-Fatura entegratör bağlantısı, kimlik bildirimi, kanal yöneticisi taslağı ve e-posta/SMS bildirim altyapısı.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v1.0 — Üretim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PostgreSQL üretim kurulumu, çok tesisli test, bağımsız güvenlik denetimi, 10.000+ rezervasyonla performans testi, kullanıcı kabul testleri.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Katkıya en açık alanlar: mevzuat entegrasyonları, gerçek otel işletmelerinden iş akışı geri bildirimi ve İngilizce arayüz çevirisi.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44" y="68580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194560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E6EDF3"/>
                </a:solidFill>
                <a:latin typeface="Calibri"/>
              </a:rPr>
              <a:t>NE SATTIĞINIZI BİLEREK YÖNETİN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103601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4A9EE0"/>
                </a:solidFill>
                <a:latin typeface="Calibri"/>
              </a:rPr>
              <a:t>60 tablo · 1075 test · %77,6 kapsam · şifreli kimlik verisi · yerel yapay zekâ seçeneği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8620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F6D365"/>
                </a:solidFill>
                <a:latin typeface="Calibri"/>
              </a:rPr>
              <a:t>Eksikleri de yazılı olan bir program.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Kullanıcı kılavuzu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7872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Test raporu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1344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Güvenlik incelemesi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14816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14816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Yol haritası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53328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8B98A9"/>
                </a:solidFill>
                <a:latin typeface="Calibri"/>
              </a:rPr>
              <a:t>github.com/Azizsekerdil/akilli-konaklama-yonetim-sistemi · MIT lisansı · Sürüm 0.1.0 · Ağustos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